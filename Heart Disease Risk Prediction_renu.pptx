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56" r:id="rId2"/>
    <p:sldId id="257" r:id="rId3"/>
    <p:sldId id="263" r:id="rId4"/>
    <p:sldId id="262" r:id="rId5"/>
    <p:sldId id="267" r:id="rId6"/>
    <p:sldId id="268" r:id="rId7"/>
    <p:sldId id="258" r:id="rId8"/>
    <p:sldId id="260" r:id="rId9"/>
    <p:sldId id="259" r:id="rId10"/>
    <p:sldId id="269" r:id="rId11"/>
    <p:sldId id="270" r:id="rId12"/>
    <p:sldId id="271" r:id="rId13"/>
    <p:sldId id="272" r:id="rId14"/>
    <p:sldId id="274" r:id="rId15"/>
    <p:sldId id="273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40ABC"/>
    <a:srgbClr val="7A06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21E4AEA4-8DFA-4A89-87EB-49C32662AFE0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>
      <p:cViewPr varScale="1">
        <p:scale>
          <a:sx n="78" d="100"/>
          <a:sy n="78" d="100"/>
        </p:scale>
        <p:origin x="878" y="62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3B725B-653D-4166-A8E9-72A38A1847CF}" type="datetimeFigureOut">
              <a:rPr lang="en-US"/>
              <a:t>3/24/2026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861E8E-D392-497B-BB21-122DD7C27CF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08353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3F64CD-0576-4A9A-BD06-7889D6E60BDC}" type="datetimeFigureOut">
              <a:rPr lang="en-US"/>
              <a:t>3/24/2026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55D449-B875-4B8D-8E66-224D27E54C9A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499799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gradFill flip="none" rotWithShape="1">
          <a:gsLst>
            <a:gs pos="0">
              <a:srgbClr val="D9D9D9"/>
            </a:gs>
            <a:gs pos="100000">
              <a:schemeClr val="bg1"/>
            </a:gs>
          </a:gsLst>
          <a:lin ang="81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6225" y="1828800"/>
            <a:ext cx="4098175" cy="3177380"/>
          </a:xfrm>
        </p:spPr>
        <p:txBody>
          <a:bodyPr anchor="b">
            <a:normAutofit/>
          </a:bodyPr>
          <a:lstStyle>
            <a:lvl1pPr algn="l">
              <a:lnSpc>
                <a:spcPct val="80000"/>
              </a:lnSpc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6225" y="5181600"/>
            <a:ext cx="4098175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pic>
        <p:nvPicPr>
          <p:cNvPr id="7" name="Picture 6" descr="EKG line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88688" y="-1"/>
            <a:ext cx="7000137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862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/>
              <a:t>3/24/2026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12444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bg>
      <p:bgPr>
        <a:gradFill flip="none" rotWithShape="1">
          <a:gsLst>
            <a:gs pos="0">
              <a:schemeClr val="accent1"/>
            </a:gs>
            <a:gs pos="100000">
              <a:schemeClr val="accent1">
                <a:lumMod val="75000"/>
              </a:schemeClr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 descr="Rectangle"/>
          <p:cNvSpPr/>
          <p:nvPr/>
        </p:nvSpPr>
        <p:spPr>
          <a:xfrm>
            <a:off x="265112" y="228600"/>
            <a:ext cx="11658600" cy="6400800"/>
          </a:xfrm>
          <a:prstGeom prst="rect">
            <a:avLst/>
          </a:prstGeom>
          <a:noFill/>
          <a:ln w="15875">
            <a:gradFill flip="none" rotWithShape="1">
              <a:gsLst>
                <a:gs pos="0">
                  <a:schemeClr val="bg1">
                    <a:lumMod val="7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1828800"/>
            <a:ext cx="7772400" cy="3177380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5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5181600"/>
            <a:ext cx="7772400" cy="685800"/>
          </a:xfrm>
        </p:spPr>
        <p:txBody>
          <a:bodyPr>
            <a:normAutofit/>
          </a:bodyPr>
          <a:lstStyle>
            <a:lvl1pPr marL="0" indent="0">
              <a:buNone/>
              <a:defRPr sz="200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06778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1825624"/>
            <a:ext cx="4800600" cy="457517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24600" y="1825624"/>
            <a:ext cx="4800600" cy="457517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/>
              <a:t>3/24/2026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44567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1828799"/>
            <a:ext cx="4800600" cy="762000"/>
          </a:xfrm>
        </p:spPr>
        <p:txBody>
          <a:bodyPr anchor="ctr">
            <a:noAutofit/>
          </a:bodyPr>
          <a:lstStyle>
            <a:lvl1pPr marL="0" indent="0">
              <a:buNone/>
              <a:defRPr sz="2400" b="0" cap="none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6800" y="2590799"/>
            <a:ext cx="4800600" cy="381003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24600" y="1828799"/>
            <a:ext cx="4800600" cy="762000"/>
          </a:xfrm>
        </p:spPr>
        <p:txBody>
          <a:bodyPr anchor="ctr">
            <a:noAutofit/>
          </a:bodyPr>
          <a:lstStyle>
            <a:lvl1pPr marL="0" indent="0">
              <a:buNone/>
              <a:defRPr sz="2400" b="0" cap="none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24600" y="2590799"/>
            <a:ext cx="4800600" cy="381003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/>
              <a:t>3/24/2026</a:t>
            </a:fld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97906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/>
              <a:t>3/24/2026</a:t>
            </a:fld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38976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/>
              <a:t>3/24/2026</a:t>
            </a:fld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46817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descr="Rectangle"/>
          <p:cNvSpPr/>
          <p:nvPr/>
        </p:nvSpPr>
        <p:spPr>
          <a:xfrm>
            <a:off x="7008812" y="0"/>
            <a:ext cx="5180013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 descr="Rectangle"/>
          <p:cNvSpPr/>
          <p:nvPr/>
        </p:nvSpPr>
        <p:spPr>
          <a:xfrm>
            <a:off x="7255668" y="228600"/>
            <a:ext cx="4686300" cy="6400800"/>
          </a:xfrm>
          <a:prstGeom prst="rect">
            <a:avLst/>
          </a:prstGeom>
          <a:noFill/>
          <a:ln w="15875">
            <a:gradFill flip="none" rotWithShape="1">
              <a:gsLst>
                <a:gs pos="0">
                  <a:schemeClr val="bg1">
                    <a:lumMod val="7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2700000" scaled="1"/>
              <a:tileRect/>
            </a:gra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32700" y="3200400"/>
            <a:ext cx="3932237" cy="175260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457201"/>
            <a:ext cx="5943600" cy="59436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32699" y="5029200"/>
            <a:ext cx="3932237" cy="1371600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67374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descr="Rectangle"/>
          <p:cNvSpPr/>
          <p:nvPr/>
        </p:nvSpPr>
        <p:spPr>
          <a:xfrm>
            <a:off x="7008812" y="0"/>
            <a:ext cx="5180013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 descr="Rectangle"/>
          <p:cNvSpPr/>
          <p:nvPr/>
        </p:nvSpPr>
        <p:spPr>
          <a:xfrm>
            <a:off x="7255668" y="228600"/>
            <a:ext cx="4686300" cy="6400800"/>
          </a:xfrm>
          <a:prstGeom prst="rect">
            <a:avLst/>
          </a:prstGeom>
          <a:noFill/>
          <a:ln w="15875">
            <a:gradFill flip="none" rotWithShape="1">
              <a:gsLst>
                <a:gs pos="0">
                  <a:schemeClr val="bg1">
                    <a:lumMod val="7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2700000" scaled="1"/>
              <a:tileRect/>
            </a:gra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35240" y="3200400"/>
            <a:ext cx="3932237" cy="175260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1" y="0"/>
            <a:ext cx="7008810" cy="6857999"/>
          </a:xfrm>
        </p:spPr>
        <p:txBody>
          <a:bodyPr tIns="45720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35240" y="5029200"/>
            <a:ext cx="3932237" cy="1374648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77249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/>
              <a:t>3/24/2026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77154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 descr="Rectangle"/>
          <p:cNvSpPr/>
          <p:nvPr/>
        </p:nvSpPr>
        <p:spPr>
          <a:xfrm>
            <a:off x="9982200" y="0"/>
            <a:ext cx="22098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58399" y="457201"/>
            <a:ext cx="2057401" cy="5943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457200"/>
            <a:ext cx="9067800" cy="5943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/>
              <a:t>3/24/2026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24635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D9D9D9"/>
            </a:gs>
            <a:gs pos="100000">
              <a:schemeClr val="bg1"/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d bar" descr="Red bar"/>
          <p:cNvSpPr/>
          <p:nvPr/>
        </p:nvSpPr>
        <p:spPr>
          <a:xfrm>
            <a:off x="1" y="1"/>
            <a:ext cx="12188824" cy="1524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99220"/>
            <a:ext cx="100584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000" y="1828799"/>
            <a:ext cx="9144000" cy="45720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6800" y="6481760"/>
            <a:ext cx="7848600" cy="2397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067800" y="6465885"/>
            <a:ext cx="1066800" cy="2397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37CC0096-1860-4642-9CD2-0079EA5E7CD1}" type="datetimeFigureOut">
              <a:rPr lang="en-US" smtClean="0"/>
              <a:pPr/>
              <a:t>3/24/2026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87000" y="6481760"/>
            <a:ext cx="838200" cy="2397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259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SzPct val="100000"/>
        <a:buFont typeface="Arial" pitchFamily="34" charset="0"/>
        <a:buChar char="▪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2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685800" indent="-18288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868680" indent="-182563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051560" indent="-18288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234440" indent="-182880" algn="l" defTabSz="914400" rtl="0" eaLnBrk="1" latinLnBrk="0" hangingPunct="1">
        <a:lnSpc>
          <a:spcPct val="90000"/>
        </a:lnSpc>
        <a:spcBef>
          <a:spcPts val="400"/>
        </a:spcBef>
        <a:buSzPct val="100000"/>
        <a:buFont typeface="Arial" pitchFamily="34" charset="0"/>
        <a:buChar char="▪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417320" indent="-182880" algn="l" defTabSz="914400" rtl="0" eaLnBrk="1" latinLnBrk="0" hangingPunct="1">
        <a:lnSpc>
          <a:spcPct val="90000"/>
        </a:lnSpc>
        <a:spcBef>
          <a:spcPts val="400"/>
        </a:spcBef>
        <a:buSzPct val="100000"/>
        <a:buFont typeface="Arial" pitchFamily="34" charset="0"/>
        <a:buChar char="▪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600200" indent="-182880" algn="l" defTabSz="914400" rtl="0" eaLnBrk="1" latinLnBrk="0" hangingPunct="1">
        <a:lnSpc>
          <a:spcPct val="90000"/>
        </a:lnSpc>
        <a:spcBef>
          <a:spcPts val="400"/>
        </a:spcBef>
        <a:buSzPct val="100000"/>
        <a:buFont typeface="Arial" pitchFamily="34" charset="0"/>
        <a:buChar char="▪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83080" indent="-182880" algn="l" defTabSz="914400" rtl="0" eaLnBrk="1" latinLnBrk="0" hangingPunct="1">
        <a:lnSpc>
          <a:spcPct val="90000"/>
        </a:lnSpc>
        <a:spcBef>
          <a:spcPts val="400"/>
        </a:spcBef>
        <a:buSzPct val="100000"/>
        <a:buFont typeface="Arial" pitchFamily="34" charset="0"/>
        <a:buChar char="▪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328" y="188639"/>
            <a:ext cx="5040560" cy="2713721"/>
          </a:xfrm>
        </p:spPr>
        <p:txBody>
          <a:bodyPr>
            <a:normAutofit/>
          </a:bodyPr>
          <a:lstStyle/>
          <a:p>
            <a:pPr algn="ctr"/>
            <a:r>
              <a:rPr lang="en-US" sz="5000" dirty="0">
                <a:latin typeface="Georgia" panose="02040502050405020303" pitchFamily="18" charset="0"/>
              </a:rPr>
              <a:t>Heart Disease Risk Prediction using</a:t>
            </a:r>
            <a:br>
              <a:rPr lang="en-US" sz="5000" dirty="0">
                <a:latin typeface="Georgia" panose="02040502050405020303" pitchFamily="18" charset="0"/>
              </a:rPr>
            </a:br>
            <a:r>
              <a:rPr lang="en-US" sz="5000" dirty="0">
                <a:latin typeface="Georgia" panose="02040502050405020303" pitchFamily="18" charset="0"/>
              </a:rPr>
              <a:t>Explainable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6225" y="4162291"/>
            <a:ext cx="4098175" cy="548543"/>
          </a:xfrm>
        </p:spPr>
        <p:txBody>
          <a:bodyPr>
            <a:normAutofit/>
          </a:bodyPr>
          <a:lstStyle/>
          <a:p>
            <a:r>
              <a:rPr lang="en-US" sz="2500" dirty="0">
                <a:solidFill>
                  <a:srgbClr val="FF0000"/>
                </a:solidFill>
                <a:latin typeface="Georgia" panose="02040502050405020303" pitchFamily="18" charset="0"/>
              </a:rPr>
              <a:t>Renusree Kakarla</a:t>
            </a:r>
          </a:p>
          <a:p>
            <a:endParaRPr lang="en-US" sz="2500" dirty="0">
              <a:solidFill>
                <a:srgbClr val="FF0000"/>
              </a:solidFill>
              <a:latin typeface="Georgia" panose="02040502050405020303" pitchFamily="18" charset="0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D592CA0F-3A0E-91BA-DAE1-D44D17DADAA4}"/>
              </a:ext>
            </a:extLst>
          </p:cNvPr>
          <p:cNvSpPr txBox="1">
            <a:spLocks/>
          </p:cNvSpPr>
          <p:nvPr/>
        </p:nvSpPr>
        <p:spPr>
          <a:xfrm>
            <a:off x="335360" y="3017472"/>
            <a:ext cx="4896544" cy="685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SzPct val="100000"/>
              <a:buFont typeface="Arial" pitchFamily="34" charset="0"/>
              <a:buNone/>
              <a:defRPr sz="2000" kern="1200" cap="all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None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400"/>
              </a:spcBef>
              <a:buSzPct val="100000"/>
              <a:buFont typeface="Arial" pitchFamily="34" charset="0"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400"/>
              </a:spcBef>
              <a:buSzPct val="100000"/>
              <a:buFont typeface="Arial" pitchFamily="34" charset="0"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400"/>
              </a:spcBef>
              <a:buSzPct val="100000"/>
              <a:buFont typeface="Arial" pitchFamily="34" charset="0"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400"/>
              </a:spcBef>
              <a:buSzPct val="100000"/>
              <a:buFont typeface="Arial" pitchFamily="34" charset="0"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700" cap="none" dirty="0">
                <a:solidFill>
                  <a:srgbClr val="7030A0"/>
                </a:solidFill>
                <a:latin typeface="Georgia" panose="02040502050405020303" pitchFamily="18" charset="0"/>
              </a:rPr>
              <a:t>Performance evaluation and explainability of machine learning models for heart disease prediction</a:t>
            </a:r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DE04AE6A-26E6-C022-CE51-FF9EC550A4C7}"/>
              </a:ext>
            </a:extLst>
          </p:cNvPr>
          <p:cNvSpPr/>
          <p:nvPr/>
        </p:nvSpPr>
        <p:spPr>
          <a:xfrm flipV="1">
            <a:off x="21486" y="3909922"/>
            <a:ext cx="5040560" cy="45719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976BD545-5D94-E0E2-7C4A-D146F5707749}"/>
              </a:ext>
            </a:extLst>
          </p:cNvPr>
          <p:cNvSpPr txBox="1">
            <a:spLocks/>
          </p:cNvSpPr>
          <p:nvPr/>
        </p:nvSpPr>
        <p:spPr>
          <a:xfrm>
            <a:off x="626225" y="4917484"/>
            <a:ext cx="4435821" cy="13198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SzPct val="100000"/>
              <a:buFont typeface="Arial" pitchFamily="34" charset="0"/>
              <a:buNone/>
              <a:defRPr sz="2000" kern="1200" cap="all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None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400"/>
              </a:spcBef>
              <a:buSzPct val="100000"/>
              <a:buFont typeface="Arial" pitchFamily="34" charset="0"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400"/>
              </a:spcBef>
              <a:buSzPct val="100000"/>
              <a:buFont typeface="Arial" pitchFamily="34" charset="0"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400"/>
              </a:spcBef>
              <a:buSzPct val="100000"/>
              <a:buFont typeface="Arial" pitchFamily="34" charset="0"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400"/>
              </a:spcBef>
              <a:buSzPct val="100000"/>
              <a:buFont typeface="Arial" pitchFamily="34" charset="0"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4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MSc Data Science  •  University of Hertfordshire</a:t>
            </a:r>
            <a:endParaRPr lang="en-US" sz="14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sz="14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Supervisor: Klaas </a:t>
            </a:r>
            <a:r>
              <a:rPr lang="en-US" sz="1400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wiersema</a:t>
            </a:r>
            <a:endParaRPr lang="en-US" sz="14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5141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5360" y="1687623"/>
            <a:ext cx="7848872" cy="3544417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Heart disease is one of the leading causes of death worldwide. Machine learning models can assist in early risk prediction; however, many high-performing models lack interpretability, which limits their adoption in clinical settings. This project aims to compare multiple machine learning models for heart disease prediction while evaluating their explainability using model-agnostic interpretation techniques. Early detection is crucial, and machine learning provides an opportunity to support clinical decision-making through data-driven predictions.</a:t>
            </a:r>
          </a:p>
        </p:txBody>
      </p:sp>
      <p:sp>
        <p:nvSpPr>
          <p:cNvPr id="4" name="Shape 9">
            <a:extLst>
              <a:ext uri="{FF2B5EF4-FFF2-40B4-BE49-F238E27FC236}">
                <a16:creationId xmlns:a16="http://schemas.microsoft.com/office/drawing/2014/main" id="{10D3AD31-EF0F-080B-C146-39A8BAB8AD80}"/>
              </a:ext>
            </a:extLst>
          </p:cNvPr>
          <p:cNvSpPr/>
          <p:nvPr/>
        </p:nvSpPr>
        <p:spPr>
          <a:xfrm>
            <a:off x="8835908" y="1919441"/>
            <a:ext cx="2560320" cy="1325563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000000">
                <a:alpha val="18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400" b="1" dirty="0">
                <a:solidFill>
                  <a:srgbClr val="8B5CF6"/>
                </a:solidFill>
                <a:latin typeface="Georgia" pitchFamily="34" charset="0"/>
              </a:rPr>
              <a:t>303</a:t>
            </a:r>
            <a:endParaRPr lang="en-US" sz="3400" dirty="0"/>
          </a:p>
        </p:txBody>
      </p:sp>
      <p:sp>
        <p:nvSpPr>
          <p:cNvPr id="5" name="Shape 9">
            <a:extLst>
              <a:ext uri="{FF2B5EF4-FFF2-40B4-BE49-F238E27FC236}">
                <a16:creationId xmlns:a16="http://schemas.microsoft.com/office/drawing/2014/main" id="{B07A12A2-F3A4-70BD-7E3D-0FF55D9893BD}"/>
              </a:ext>
            </a:extLst>
          </p:cNvPr>
          <p:cNvSpPr/>
          <p:nvPr/>
        </p:nvSpPr>
        <p:spPr>
          <a:xfrm>
            <a:off x="8840688" y="3459832"/>
            <a:ext cx="256032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000000">
                <a:alpha val="18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400" b="1">
                <a:solidFill>
                  <a:srgbClr val="FF0000"/>
                </a:solidFill>
                <a:latin typeface="Georgia" pitchFamily="34" charset="0"/>
              </a:rPr>
              <a:t>14</a:t>
            </a:r>
            <a:endParaRPr lang="en-US" sz="3400" dirty="0">
              <a:solidFill>
                <a:srgbClr val="FF0000"/>
              </a:solidFill>
            </a:endParaRPr>
          </a:p>
        </p:txBody>
      </p:sp>
      <p:sp>
        <p:nvSpPr>
          <p:cNvPr id="6" name="Shape 9">
            <a:extLst>
              <a:ext uri="{FF2B5EF4-FFF2-40B4-BE49-F238E27FC236}">
                <a16:creationId xmlns:a16="http://schemas.microsoft.com/office/drawing/2014/main" id="{D3E6164F-51C3-6630-4DFA-17CDB7E799EA}"/>
              </a:ext>
            </a:extLst>
          </p:cNvPr>
          <p:cNvSpPr/>
          <p:nvPr/>
        </p:nvSpPr>
        <p:spPr>
          <a:xfrm>
            <a:off x="8835908" y="5046260"/>
            <a:ext cx="256032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000000">
                <a:alpha val="18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400" b="1" dirty="0">
                <a:solidFill>
                  <a:srgbClr val="EC48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93.52%</a:t>
            </a:r>
            <a:endParaRPr lang="en-US" sz="3400" dirty="0"/>
          </a:p>
        </p:txBody>
      </p:sp>
      <p:sp>
        <p:nvSpPr>
          <p:cNvPr id="8" name="Text 12">
            <a:extLst>
              <a:ext uri="{FF2B5EF4-FFF2-40B4-BE49-F238E27FC236}">
                <a16:creationId xmlns:a16="http://schemas.microsoft.com/office/drawing/2014/main" id="{55B5CDDD-0025-0CFC-7EA6-9EFA45185E31}"/>
              </a:ext>
            </a:extLst>
          </p:cNvPr>
          <p:cNvSpPr/>
          <p:nvPr/>
        </p:nvSpPr>
        <p:spPr>
          <a:xfrm>
            <a:off x="9023568" y="2669565"/>
            <a:ext cx="2185000" cy="36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dirty="0">
                <a:solidFill>
                  <a:srgbClr val="2D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Entries</a:t>
            </a:r>
            <a:endParaRPr lang="en-US" sz="1200" dirty="0"/>
          </a:p>
        </p:txBody>
      </p:sp>
      <p:sp>
        <p:nvSpPr>
          <p:cNvPr id="11" name="Text 12">
            <a:extLst>
              <a:ext uri="{FF2B5EF4-FFF2-40B4-BE49-F238E27FC236}">
                <a16:creationId xmlns:a16="http://schemas.microsoft.com/office/drawing/2014/main" id="{59661612-3716-B11C-AF56-66D89EC0B210}"/>
              </a:ext>
            </a:extLst>
          </p:cNvPr>
          <p:cNvSpPr/>
          <p:nvPr/>
        </p:nvSpPr>
        <p:spPr>
          <a:xfrm>
            <a:off x="9023568" y="5708637"/>
            <a:ext cx="2185000" cy="48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dirty="0">
                <a:solidFill>
                  <a:srgbClr val="2D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Accuracy(Random Forest)</a:t>
            </a:r>
            <a:endParaRPr lang="en-US" sz="1200" dirty="0"/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8664A415-990F-5C40-2A25-A579598C6C76}"/>
              </a:ext>
            </a:extLst>
          </p:cNvPr>
          <p:cNvSpPr/>
          <p:nvPr/>
        </p:nvSpPr>
        <p:spPr>
          <a:xfrm>
            <a:off x="9023568" y="4145632"/>
            <a:ext cx="2185000" cy="48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dirty="0">
                <a:solidFill>
                  <a:srgbClr val="2D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Columns</a:t>
            </a:r>
            <a:endParaRPr lang="en-US" sz="1200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6DC6749-587F-7E7B-6911-078DE6C42EDF}"/>
              </a:ext>
            </a:extLst>
          </p:cNvPr>
          <p:cNvSpPr txBox="1">
            <a:spLocks/>
          </p:cNvSpPr>
          <p:nvPr/>
        </p:nvSpPr>
        <p:spPr>
          <a:xfrm>
            <a:off x="335360" y="5061713"/>
            <a:ext cx="7848872" cy="143110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SzPct val="100000"/>
              <a:buFont typeface="Arial" pitchFamily="34" charset="0"/>
              <a:buChar char="▪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Char char="▪"/>
              <a:defRPr sz="2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Char char="▪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68680" indent="-182563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Char char="▪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5156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Char char="▪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2344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buSzPct val="100000"/>
              <a:buFont typeface="Arial" pitchFamily="34" charset="0"/>
              <a:buChar char="▪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4173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buSzPct val="100000"/>
              <a:buFont typeface="Arial" pitchFamily="34" charset="0"/>
              <a:buChar char="▪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600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buSzPct val="100000"/>
              <a:buFont typeface="Arial" pitchFamily="34" charset="0"/>
              <a:buChar char="▪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8308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buSzPct val="100000"/>
              <a:buFont typeface="Arial" pitchFamily="34" charset="0"/>
              <a:buChar char="▪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itchFamily="34" charset="0"/>
              <a:buNone/>
            </a:pPr>
            <a:r>
              <a:rPr lang="en-US" sz="3200" dirty="0">
                <a:solidFill>
                  <a:srgbClr val="D40AB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Question:</a:t>
            </a:r>
          </a:p>
          <a:p>
            <a:pPr marL="0" indent="0" algn="just">
              <a:buNone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do different machine learning models compare in predictive performance for heart disease risk prediction using the UCI Heart Disease dataset?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2969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Previous Works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1E943C-C390-79EC-175A-DBAAEFC0B07E}"/>
              </a:ext>
            </a:extLst>
          </p:cNvPr>
          <p:cNvSpPr txBox="1"/>
          <p:nvPr/>
        </p:nvSpPr>
        <p:spPr>
          <a:xfrm>
            <a:off x="911424" y="1700808"/>
            <a:ext cx="10729192" cy="5847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Dubey A.K. et al.(2021)</a:t>
            </a:r>
          </a:p>
          <a:p>
            <a:endParaRPr lang="en-IN" dirty="0"/>
          </a:p>
          <a:p>
            <a:r>
              <a:rPr lang="en-IN" dirty="0"/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Predicting Heart Disease Based on Influential Features with Machine Learning 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Karthick K., et al.(2022)</a:t>
            </a:r>
          </a:p>
          <a:p>
            <a:endParaRPr lang="en-IN" dirty="0"/>
          </a:p>
          <a:p>
            <a:r>
              <a:rPr lang="en-IN" dirty="0"/>
              <a:t>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of a heart disease risk prediction model using machine learning.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Comput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Math.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Methods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Ahmad </a:t>
            </a: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G.N.,et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al.(2022)</a:t>
            </a:r>
          </a:p>
          <a:p>
            <a:endParaRPr lang="en-IN" dirty="0"/>
          </a:p>
          <a:p>
            <a:r>
              <a:rPr lang="en-IN" dirty="0"/>
              <a:t>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Mixed machine learning approach for efficient prediction of human heart disease by identifying the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numerical and categorical features.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47100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Novelty &amp; Approach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rgbClr val="D40ABC"/>
                </a:solidFill>
              </a:rPr>
              <a:t>Previous Approaches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Support Vector Machine (SVM)</a:t>
            </a:r>
          </a:p>
          <a:p>
            <a:r>
              <a:rPr lang="en-US" dirty="0"/>
              <a:t>K-Nearest </a:t>
            </a:r>
            <a:r>
              <a:rPr lang="en-US" dirty="0" err="1"/>
              <a:t>Neighbours</a:t>
            </a:r>
            <a:r>
              <a:rPr lang="en-US" dirty="0"/>
              <a:t> (KNN)</a:t>
            </a:r>
          </a:p>
          <a:p>
            <a:r>
              <a:rPr lang="en-US" dirty="0"/>
              <a:t>Decision Trees</a:t>
            </a:r>
          </a:p>
          <a:p>
            <a:r>
              <a:rPr lang="en-US" dirty="0"/>
              <a:t>Gradient Boosting</a:t>
            </a:r>
          </a:p>
          <a:p>
            <a:r>
              <a:rPr lang="en-US" dirty="0"/>
              <a:t>Focus mainly on Accuracy</a:t>
            </a:r>
          </a:p>
          <a:p>
            <a:r>
              <a:rPr lang="en-US" dirty="0"/>
              <a:t>Limited use of explainability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This Project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Logistic Regression (baseline)</a:t>
            </a:r>
          </a:p>
          <a:p>
            <a:r>
              <a:rPr lang="en-US" dirty="0"/>
              <a:t>Random Forest (ensemble)</a:t>
            </a:r>
          </a:p>
          <a:p>
            <a:r>
              <a:rPr lang="en-US" dirty="0" err="1"/>
              <a:t>XGBoost</a:t>
            </a:r>
            <a:r>
              <a:rPr lang="en-US" dirty="0"/>
              <a:t>  (advanced boosting Model)</a:t>
            </a:r>
          </a:p>
          <a:p>
            <a:r>
              <a:rPr lang="en-US" dirty="0"/>
              <a:t>Hyperparameter Tuning</a:t>
            </a:r>
          </a:p>
          <a:p>
            <a:r>
              <a:rPr lang="en-US" dirty="0"/>
              <a:t>Robust Evaluation</a:t>
            </a:r>
          </a:p>
          <a:p>
            <a:r>
              <a:rPr lang="en-US" dirty="0"/>
              <a:t>SHAP explainability</a:t>
            </a:r>
          </a:p>
        </p:txBody>
      </p:sp>
    </p:spTree>
    <p:extLst>
      <p:ext uri="{BB962C8B-B14F-4D97-AF65-F5344CB8AC3E}">
        <p14:creationId xmlns:p14="http://schemas.microsoft.com/office/powerpoint/2010/main" val="26376736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44F8C-5699-222B-5843-A35C7597F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</a:t>
            </a:r>
          </a:p>
        </p:txBody>
      </p:sp>
      <p:sp>
        <p:nvSpPr>
          <p:cNvPr id="5" name="Shape 17">
            <a:extLst>
              <a:ext uri="{FF2B5EF4-FFF2-40B4-BE49-F238E27FC236}">
                <a16:creationId xmlns:a16="http://schemas.microsoft.com/office/drawing/2014/main" id="{1A1E87FB-189C-A3C5-AE23-9EE7108ABB5F}"/>
              </a:ext>
            </a:extLst>
          </p:cNvPr>
          <p:cNvSpPr/>
          <p:nvPr/>
        </p:nvSpPr>
        <p:spPr>
          <a:xfrm>
            <a:off x="407368" y="2060848"/>
            <a:ext cx="5112568" cy="3744416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000000">
                <a:alpha val="18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4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Columns (14):</a:t>
            </a:r>
          </a:p>
          <a:p>
            <a:endParaRPr 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Age,sex,cp,trestbps,chol,fbs,restecg,thalach,exang,oldpeak,slope,ca,thal,target</a:t>
            </a:r>
          </a:p>
        </p:txBody>
      </p:sp>
      <p:sp>
        <p:nvSpPr>
          <p:cNvPr id="6" name="Shape 21">
            <a:extLst>
              <a:ext uri="{FF2B5EF4-FFF2-40B4-BE49-F238E27FC236}">
                <a16:creationId xmlns:a16="http://schemas.microsoft.com/office/drawing/2014/main" id="{C295E4B1-C20B-B4B4-CD88-14238C4BC1E5}"/>
              </a:ext>
            </a:extLst>
          </p:cNvPr>
          <p:cNvSpPr/>
          <p:nvPr/>
        </p:nvSpPr>
        <p:spPr>
          <a:xfrm>
            <a:off x="5735960" y="2060848"/>
            <a:ext cx="6048672" cy="3744416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000000">
                <a:alpha val="18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4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 Target Variable:</a:t>
            </a:r>
          </a:p>
          <a:p>
            <a:r>
              <a:rPr lang="en-US" sz="34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original dataset, the target variable ranges from 0 to 4. For binary classification, the target is converted into: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0: No heart disease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1: Presence of heart disease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transformation is consistent with existing literature.</a:t>
            </a:r>
          </a:p>
          <a:p>
            <a:endParaRPr lang="en-US" sz="34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22">
            <a:extLst>
              <a:ext uri="{FF2B5EF4-FFF2-40B4-BE49-F238E27FC236}">
                <a16:creationId xmlns:a16="http://schemas.microsoft.com/office/drawing/2014/main" id="{849D2490-7CE3-EC6F-E862-60E9CE43F70E}"/>
              </a:ext>
            </a:extLst>
          </p:cNvPr>
          <p:cNvSpPr/>
          <p:nvPr/>
        </p:nvSpPr>
        <p:spPr>
          <a:xfrm>
            <a:off x="5690240" y="2045608"/>
            <a:ext cx="45720" cy="360040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6393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4DA18-AFDA-EB2E-A8B3-41726359B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Ethical Implications</a:t>
            </a: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1255A25-782F-16E8-AA84-4BF07B82AE2A}"/>
              </a:ext>
            </a:extLst>
          </p:cNvPr>
          <p:cNvSpPr/>
          <p:nvPr/>
        </p:nvSpPr>
        <p:spPr>
          <a:xfrm>
            <a:off x="191344" y="1772816"/>
            <a:ext cx="3474720" cy="4846320"/>
          </a:xfrm>
          <a:prstGeom prst="roundRect">
            <a:avLst>
              <a:gd name="adj" fmla="val 1579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000000">
                <a:alpha val="18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2400" dirty="0">
                <a:solidFill>
                  <a:srgbClr val="D40AB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Privacy and Anonymity</a:t>
            </a:r>
          </a:p>
          <a:p>
            <a:endParaRPr lang="en-IN" sz="2200" dirty="0">
              <a:solidFill>
                <a:srgbClr val="D40AB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is fully anonymized, ensuring that individual patients cannot be identified. This aligns with ethical guidelines for handling healthcare data.</a:t>
            </a:r>
          </a:p>
          <a:p>
            <a:endParaRPr lang="en-US" sz="2200" dirty="0">
              <a:solidFill>
                <a:srgbClr val="D40AB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5CB35AD5-7F31-BD27-F6D4-B832C4126A0F}"/>
              </a:ext>
            </a:extLst>
          </p:cNvPr>
          <p:cNvSpPr/>
          <p:nvPr/>
        </p:nvSpPr>
        <p:spPr>
          <a:xfrm>
            <a:off x="4042244" y="1781200"/>
            <a:ext cx="3474720" cy="4846320"/>
          </a:xfrm>
          <a:prstGeom prst="roundRect">
            <a:avLst>
              <a:gd name="adj" fmla="val 1579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000000">
                <a:alpha val="18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Clinical Responsibility</a:t>
            </a:r>
          </a:p>
          <a:p>
            <a:endParaRPr lang="en-IN" sz="22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developed in this project is intended for research purposes only and should not be used as a standalone diagnostic tool. Clinical decisions must always involve qualified healthcare professionals.</a:t>
            </a:r>
            <a:endParaRPr lang="en-US" sz="22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1">
            <a:extLst>
              <a:ext uri="{FF2B5EF4-FFF2-40B4-BE49-F238E27FC236}">
                <a16:creationId xmlns:a16="http://schemas.microsoft.com/office/drawing/2014/main" id="{E8833990-B0FD-2077-4210-165232CCA478}"/>
              </a:ext>
            </a:extLst>
          </p:cNvPr>
          <p:cNvSpPr/>
          <p:nvPr/>
        </p:nvSpPr>
        <p:spPr>
          <a:xfrm>
            <a:off x="7896200" y="1781200"/>
            <a:ext cx="3600400" cy="4846320"/>
          </a:xfrm>
          <a:prstGeom prst="roundRect">
            <a:avLst>
              <a:gd name="adj" fmla="val 1579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000000">
                <a:alpha val="18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24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Limitations and Misuse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Due to the relatively small dataset, the model may not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generalise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well to broader populations. Misuse of such models without proper validation could lead to incorrect medical conclusions.</a:t>
            </a:r>
            <a:endParaRPr lang="en-IN" sz="24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F474F7B5-FA5C-D31F-4B4D-0E170E5B93EE}"/>
              </a:ext>
            </a:extLst>
          </p:cNvPr>
          <p:cNvSpPr/>
          <p:nvPr/>
        </p:nvSpPr>
        <p:spPr>
          <a:xfrm>
            <a:off x="8021880" y="1796440"/>
            <a:ext cx="3474720" cy="64008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Shape 6">
            <a:extLst>
              <a:ext uri="{FF2B5EF4-FFF2-40B4-BE49-F238E27FC236}">
                <a16:creationId xmlns:a16="http://schemas.microsoft.com/office/drawing/2014/main" id="{67CBDAD7-40FB-4737-4A5A-06F2CD949317}"/>
              </a:ext>
            </a:extLst>
          </p:cNvPr>
          <p:cNvSpPr/>
          <p:nvPr/>
        </p:nvSpPr>
        <p:spPr>
          <a:xfrm>
            <a:off x="279376" y="1796440"/>
            <a:ext cx="3298656" cy="64008"/>
          </a:xfrm>
          <a:prstGeom prst="rect">
            <a:avLst/>
          </a:prstGeom>
          <a:solidFill>
            <a:srgbClr val="4A2C6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8" name="Shape 10">
            <a:extLst>
              <a:ext uri="{FF2B5EF4-FFF2-40B4-BE49-F238E27FC236}">
                <a16:creationId xmlns:a16="http://schemas.microsoft.com/office/drawing/2014/main" id="{C92976E9-43FC-5576-626A-AC81F571C556}"/>
              </a:ext>
            </a:extLst>
          </p:cNvPr>
          <p:cNvSpPr/>
          <p:nvPr/>
        </p:nvSpPr>
        <p:spPr>
          <a:xfrm>
            <a:off x="4140658" y="1828444"/>
            <a:ext cx="3277892" cy="49124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919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E4414D-C89B-DB02-34C2-B55700EFA7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376" y="1916832"/>
            <a:ext cx="6192688" cy="4941168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4A2C6E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Target Variable Distribution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A36C69-D95F-FAC5-ED4F-4DE0891668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488" y="2552175"/>
            <a:ext cx="5610512" cy="4206605"/>
          </a:xfrm>
          <a:prstGeom prst="rect">
            <a:avLst/>
          </a:prstGeom>
        </p:spPr>
      </p:pic>
      <p:sp>
        <p:nvSpPr>
          <p:cNvPr id="8" name="Shape 3">
            <a:extLst>
              <a:ext uri="{FF2B5EF4-FFF2-40B4-BE49-F238E27FC236}">
                <a16:creationId xmlns:a16="http://schemas.microsoft.com/office/drawing/2014/main" id="{7492F9E1-27A4-EC9C-1BB4-DFC48FD6964E}"/>
              </a:ext>
            </a:extLst>
          </p:cNvPr>
          <p:cNvSpPr/>
          <p:nvPr/>
        </p:nvSpPr>
        <p:spPr>
          <a:xfrm>
            <a:off x="6672064" y="1872816"/>
            <a:ext cx="4176464" cy="4885964"/>
          </a:xfrm>
          <a:prstGeom prst="roundRect">
            <a:avLst>
              <a:gd name="adj" fmla="val 1364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000000">
                <a:alpha val="18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>
                <a:solidFill>
                  <a:srgbClr val="4A2C6E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Key Findings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Checked for missing values and data consistency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Analysed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feature distributions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Examined correlations between variables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Confirmed balanced target variable distribution 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4">
            <a:extLst>
              <a:ext uri="{FF2B5EF4-FFF2-40B4-BE49-F238E27FC236}">
                <a16:creationId xmlns:a16="http://schemas.microsoft.com/office/drawing/2014/main" id="{1B825B02-66DB-F7C5-BC18-3EA618CDB454}"/>
              </a:ext>
            </a:extLst>
          </p:cNvPr>
          <p:cNvSpPr/>
          <p:nvPr/>
        </p:nvSpPr>
        <p:spPr>
          <a:xfrm>
            <a:off x="6617772" y="1916832"/>
            <a:ext cx="108584" cy="4796544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620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Missing values were identified and removed.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split into training and testing sets (80/20).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scaling applied to numerical variables.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Scaling applied where required for model performance.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2050" name="Picture 2" descr="Free Red Heartbeat Line Image - Heartbeat, Health, Red ...">
            <a:extLst>
              <a:ext uri="{FF2B5EF4-FFF2-40B4-BE49-F238E27FC236}">
                <a16:creationId xmlns:a16="http://schemas.microsoft.com/office/drawing/2014/main" id="{B04452E1-BAE0-3115-E5C8-49F081CBEC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0056" y="1825624"/>
            <a:ext cx="4876800" cy="487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38627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1825624"/>
            <a:ext cx="9709720" cy="4575175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 was used as a baseline model for comparison.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was applied as an ensemble learning method to capture non-linear relationships.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was used as a boosting model to improve predictive performance.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models were trained on the training dataset and evaluated using the test set.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performance was compared using accuracy and ROC-AUC metrics.</a:t>
            </a:r>
          </a:p>
        </p:txBody>
      </p:sp>
    </p:spTree>
    <p:extLst>
      <p:ext uri="{BB962C8B-B14F-4D97-AF65-F5344CB8AC3E}">
        <p14:creationId xmlns:p14="http://schemas.microsoft.com/office/powerpoint/2010/main" val="3948826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F6798-E1EA-B3A9-E3E5-68347E5D3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Evaluation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0813BB1-EF3F-D6E0-596A-67D033294F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66800" y="1825624"/>
            <a:ext cx="9709720" cy="4575175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evaluated using: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ROC-AUC score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ROC curves used to compare model performance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Confusion matrices used to analyse predictions 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7263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A99D90-0457-D268-EB44-684D77743A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CE6EB-150F-01A7-29C7-A91152201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Hyperparameter Tuning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BC90499-34FA-24E7-ED2D-F056F1D5EC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11424" y="1141413"/>
            <a:ext cx="9709720" cy="3151684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GridSearchCV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used for optimisation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Parameters tuned for Random Forest and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model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generalisation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performance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Selected best-performing parameter combinations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6F118F3-5C6B-7DDB-E285-04B511A4F0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3904443"/>
            <a:ext cx="8557592" cy="2404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4392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BC24E2-D555-34BF-545A-4E3C56FEF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E74ED-5272-24A7-526C-D678FE7E4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Model Selection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ECC1C7A-8280-EA12-FCA2-6FB81C38FA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66800" y="1321568"/>
            <a:ext cx="9709720" cy="2323456"/>
          </a:xfrm>
        </p:spPr>
        <p:txBody>
          <a:bodyPr/>
          <a:lstStyle/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achieved the highest ROC-AUC score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Captures complex non-linear relationships in data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Selected as the final model for explainability analysis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6195495-354E-1916-F928-5D7D66861B38}"/>
              </a:ext>
            </a:extLst>
          </p:cNvPr>
          <p:cNvSpPr txBox="1">
            <a:spLocks/>
          </p:cNvSpPr>
          <p:nvPr/>
        </p:nvSpPr>
        <p:spPr>
          <a:xfrm>
            <a:off x="1066800" y="3140968"/>
            <a:ext cx="100584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4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Explainable AI (SHAP)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CC66C1A-0B6D-1104-D556-C2DF6383E372}"/>
              </a:ext>
            </a:extLst>
          </p:cNvPr>
          <p:cNvSpPr txBox="1">
            <a:spLocks/>
          </p:cNvSpPr>
          <p:nvPr/>
        </p:nvSpPr>
        <p:spPr>
          <a:xfrm>
            <a:off x="1066800" y="3705644"/>
            <a:ext cx="9709720" cy="28917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SzPct val="100000"/>
              <a:buFont typeface="Arial" pitchFamily="34" charset="0"/>
              <a:buChar char="▪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Char char="▪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Char char="▪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68680" indent="-182563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Char char="▪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5156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Char char="▪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2344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buSzPct val="100000"/>
              <a:buFont typeface="Arial" pitchFamily="34" charset="0"/>
              <a:buChar char="▪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4173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buSzPct val="100000"/>
              <a:buFont typeface="Arial" pitchFamily="34" charset="0"/>
              <a:buChar char="▪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600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buSzPct val="100000"/>
              <a:buFont typeface="Arial" pitchFamily="34" charset="0"/>
              <a:buChar char="▪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8308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buSzPct val="100000"/>
              <a:buFont typeface="Arial" pitchFamily="34" charset="0"/>
              <a:buChar char="▪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SHAP used to interpret model predictions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contribution of each feature to predictions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global and local explanations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Enhances transparency and trust in the model</a:t>
            </a:r>
          </a:p>
        </p:txBody>
      </p:sp>
    </p:spTree>
    <p:extLst>
      <p:ext uri="{BB962C8B-B14F-4D97-AF65-F5344CB8AC3E}">
        <p14:creationId xmlns:p14="http://schemas.microsoft.com/office/powerpoint/2010/main" val="39077756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B45F36-7E2D-E2FF-78D1-0B851ABA90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5F9CE-D365-CD0F-83EA-150668B0EC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4C81EAB-6321-CDE8-F4C5-7804455315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66800" y="1321568"/>
            <a:ext cx="9709720" cy="2323456"/>
          </a:xfrm>
        </p:spPr>
        <p:txBody>
          <a:bodyPr/>
          <a:lstStyle/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Chest pain type is a significant predictor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Maximum heart rate strongly influences predictions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results align with medical domain knowledge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742E832-58AF-2EB7-A7FA-0E67B1B6FB4D}"/>
              </a:ext>
            </a:extLst>
          </p:cNvPr>
          <p:cNvSpPr txBox="1">
            <a:spLocks/>
          </p:cNvSpPr>
          <p:nvPr/>
        </p:nvSpPr>
        <p:spPr>
          <a:xfrm>
            <a:off x="1066800" y="3140968"/>
            <a:ext cx="100584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4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Work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C142D9E-706E-96D9-1DB3-F640911CAE16}"/>
              </a:ext>
            </a:extLst>
          </p:cNvPr>
          <p:cNvSpPr txBox="1">
            <a:spLocks/>
          </p:cNvSpPr>
          <p:nvPr/>
        </p:nvSpPr>
        <p:spPr>
          <a:xfrm>
            <a:off x="1066800" y="3705644"/>
            <a:ext cx="9709720" cy="28917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SzPct val="100000"/>
              <a:buFont typeface="Arial" pitchFamily="34" charset="0"/>
              <a:buChar char="▪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Char char="▪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Char char="▪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68680" indent="-182563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Char char="▪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5156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Char char="▪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2344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buSzPct val="100000"/>
              <a:buFont typeface="Arial" pitchFamily="34" charset="0"/>
              <a:buChar char="▪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4173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buSzPct val="100000"/>
              <a:buFont typeface="Arial" pitchFamily="34" charset="0"/>
              <a:buChar char="▪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600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buSzPct val="100000"/>
              <a:buFont typeface="Arial" pitchFamily="34" charset="0"/>
              <a:buChar char="▪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8308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buSzPct val="100000"/>
              <a:buFont typeface="Arial" pitchFamily="34" charset="0"/>
              <a:buChar char="▪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larger and more diverse datasets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Explore additional machine learning and deep learning models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model generalisation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 model in a real-world clinical environment </a:t>
            </a:r>
          </a:p>
        </p:txBody>
      </p:sp>
    </p:spTree>
    <p:extLst>
      <p:ext uri="{BB962C8B-B14F-4D97-AF65-F5344CB8AC3E}">
        <p14:creationId xmlns:p14="http://schemas.microsoft.com/office/powerpoint/2010/main" val="3633046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221AF3-7115-C0D2-DE95-205CF07172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BB2BA-EAE4-6D1C-DE9B-B6D19E2DF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7E7D2F1-0201-B30A-07E1-C176283F29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80904" y="2287801"/>
            <a:ext cx="9709720" cy="3229431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models can effectively predict heart disease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outperformed other models in this study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Explainable AI improves interpretability of predictions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approach supports clinical decision-making research</a:t>
            </a:r>
          </a:p>
        </p:txBody>
      </p:sp>
    </p:spTree>
    <p:extLst>
      <p:ext uri="{BB962C8B-B14F-4D97-AF65-F5344CB8AC3E}">
        <p14:creationId xmlns:p14="http://schemas.microsoft.com/office/powerpoint/2010/main" val="1502243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AC1E2D-CE93-D4ED-EEFD-EC91FC2CE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80F20-4672-03DA-D941-58FFBAA5F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FBDE35E-6B4C-5515-76AC-33ED6F7C84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80904" y="2287801"/>
            <a:ext cx="9767624" cy="4309551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Veisi H.,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Ghaedsharaf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H.R., Ebrahimi M. Improving the Performance of Machine Learning Algorithms for Heart Disease Diagnosis by Optimizing Data and Features. Soft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Comput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J. 2021.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Sarra R.R., Dinar A.M., Mohammed M.A., Abdulkareem K.H. Enhanced heart disease prediction based on machine learning and χ2 statistical optimal feature selection model. Designs. 2022 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Karthick K., Aruna S.K.,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Samikannu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R., Kuppusamy R.,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Teekaraman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Y.,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Thelkar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A.R. Implementation of a heart disease risk prediction model using machine learning.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Comput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Math. Methods Med. 2022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83467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Medical Design 16x9">
  <a:themeElements>
    <a:clrScheme name="MedicalHealth">
      <a:dk1>
        <a:sysClr val="windowText" lastClr="000000"/>
      </a:dk1>
      <a:lt1>
        <a:sysClr val="window" lastClr="FFFFFF"/>
      </a:lt1>
      <a:dk2>
        <a:srgbClr val="656367"/>
      </a:dk2>
      <a:lt2>
        <a:srgbClr val="F2F2F2"/>
      </a:lt2>
      <a:accent1>
        <a:srgbClr val="B82D2F"/>
      </a:accent1>
      <a:accent2>
        <a:srgbClr val="333333"/>
      </a:accent2>
      <a:accent3>
        <a:srgbClr val="2B4A63"/>
      </a:accent3>
      <a:accent4>
        <a:srgbClr val="445E45"/>
      </a:accent4>
      <a:accent5>
        <a:srgbClr val="5A3A64"/>
      </a:accent5>
      <a:accent6>
        <a:srgbClr val="DB8526"/>
      </a:accent6>
      <a:hlink>
        <a:srgbClr val="164E6E"/>
      </a:hlink>
      <a:folHlink>
        <a:srgbClr val="667F6D"/>
      </a:folHlink>
    </a:clrScheme>
    <a:fontScheme name="Franklin Gothic Medium">
      <a:maj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00001141.potx" id="{D7485564-6666-4DDB-B0D3-55F6E694D6E5}" vid="{6E950D30-6FC6-4411-BCFF-468AD9ECA787}"/>
    </a:ext>
  </a:extLst>
</a:theme>
</file>

<file path=ppt/theme/theme2.xml><?xml version="1.0" encoding="utf-8"?>
<a:theme xmlns:a="http://schemas.openxmlformats.org/drawingml/2006/main" name="Office Theme">
  <a:themeElements>
    <a:clrScheme name="MedicalHealth">
      <a:dk1>
        <a:sysClr val="windowText" lastClr="000000"/>
      </a:dk1>
      <a:lt1>
        <a:sysClr val="window" lastClr="FFFFFF"/>
      </a:lt1>
      <a:dk2>
        <a:srgbClr val="656367"/>
      </a:dk2>
      <a:lt2>
        <a:srgbClr val="F2F2F2"/>
      </a:lt2>
      <a:accent1>
        <a:srgbClr val="B82D2F"/>
      </a:accent1>
      <a:accent2>
        <a:srgbClr val="333333"/>
      </a:accent2>
      <a:accent3>
        <a:srgbClr val="2B4A63"/>
      </a:accent3>
      <a:accent4>
        <a:srgbClr val="445E45"/>
      </a:accent4>
      <a:accent5>
        <a:srgbClr val="5A3A64"/>
      </a:accent5>
      <a:accent6>
        <a:srgbClr val="DB8526"/>
      </a:accent6>
      <a:hlink>
        <a:srgbClr val="164E6E"/>
      </a:hlink>
      <a:folHlink>
        <a:srgbClr val="667F6D"/>
      </a:folHlink>
    </a:clrScheme>
    <a:fontScheme name="Franklin Gothic Medium">
      <a:maj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MedicalHealth">
      <a:dk1>
        <a:sysClr val="windowText" lastClr="000000"/>
      </a:dk1>
      <a:lt1>
        <a:sysClr val="window" lastClr="FFFFFF"/>
      </a:lt1>
      <a:dk2>
        <a:srgbClr val="656367"/>
      </a:dk2>
      <a:lt2>
        <a:srgbClr val="F2F2F2"/>
      </a:lt2>
      <a:accent1>
        <a:srgbClr val="B82D2F"/>
      </a:accent1>
      <a:accent2>
        <a:srgbClr val="333333"/>
      </a:accent2>
      <a:accent3>
        <a:srgbClr val="2B4A63"/>
      </a:accent3>
      <a:accent4>
        <a:srgbClr val="445E45"/>
      </a:accent4>
      <a:accent5>
        <a:srgbClr val="5A3A64"/>
      </a:accent5>
      <a:accent6>
        <a:srgbClr val="DB8526"/>
      </a:accent6>
      <a:hlink>
        <a:srgbClr val="164E6E"/>
      </a:hlink>
      <a:folHlink>
        <a:srgbClr val="667F6D"/>
      </a:folHlink>
    </a:clrScheme>
    <a:fontScheme name="Franklin Gothic Medium">
      <a:maj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267</TotalTime>
  <Words>887</Words>
  <Application>Microsoft Office PowerPoint</Application>
  <PresentationFormat>Widescreen</PresentationFormat>
  <Paragraphs>129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Calibri</vt:lpstr>
      <vt:lpstr>Franklin Gothic Medium</vt:lpstr>
      <vt:lpstr>Georgia</vt:lpstr>
      <vt:lpstr>Times New Roman</vt:lpstr>
      <vt:lpstr>Wingdings</vt:lpstr>
      <vt:lpstr>Medical Design 16x9</vt:lpstr>
      <vt:lpstr>Heart Disease Risk Prediction using Explainable AI</vt:lpstr>
      <vt:lpstr> INTRODUCTION</vt:lpstr>
      <vt:lpstr>Previous Works</vt:lpstr>
      <vt:lpstr>Novelty &amp; Approach</vt:lpstr>
      <vt:lpstr>DATASET </vt:lpstr>
      <vt:lpstr>Ethical Implications</vt:lpstr>
      <vt:lpstr>Exploratory Data Analysis </vt:lpstr>
      <vt:lpstr>Data Preprocessing</vt:lpstr>
      <vt:lpstr>Machine Learning Models</vt:lpstr>
      <vt:lpstr>Model Evaluation</vt:lpstr>
      <vt:lpstr>Hyperparameter Tuning</vt:lpstr>
      <vt:lpstr>Best Model Selection</vt:lpstr>
      <vt:lpstr>Key Findings</vt:lpstr>
      <vt:lpstr>Conclusion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Kakarla Renusree</dc:creator>
  <cp:lastModifiedBy>Kakarla Renusree</cp:lastModifiedBy>
  <cp:revision>8</cp:revision>
  <dcterms:created xsi:type="dcterms:W3CDTF">2026-03-23T22:05:32Z</dcterms:created>
  <dcterms:modified xsi:type="dcterms:W3CDTF">2026-03-24T09:26:19Z</dcterms:modified>
</cp:coreProperties>
</file>